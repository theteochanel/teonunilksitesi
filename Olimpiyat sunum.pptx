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5ba2136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5ba2136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5ba2136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5ba2136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65ba2136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65ba2136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65ba2136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65ba2136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65ba2136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65ba2136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5ba2136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65ba2136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5ba2136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65ba2136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6d63c9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86d63c9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86d63c94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86d63c94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6d63c9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86d63c9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5ba2136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5ba2136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9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25550" y="2906500"/>
            <a:ext cx="64929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 Sunum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56" name="Google Shape;56;p13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57" name="Google Shape;57;p13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870638" y="4350900"/>
            <a:ext cx="5402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93939"/>
                </a:solidFill>
              </a:rPr>
              <a:t>Sunumu hazırlayan Teoman Ertürk</a:t>
            </a:r>
            <a:endParaRPr>
              <a:solidFill>
                <a:srgbClr val="393939"/>
              </a:solidFill>
            </a:endParaRPr>
          </a:p>
        </p:txBody>
      </p:sp>
      <p:pic>
        <p:nvPicPr>
          <p:cNvPr id="61" name="Google Shape;61;p13" title="olimpiy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800" y="1092125"/>
            <a:ext cx="4028393" cy="19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4"/>
          <p:cNvGrpSpPr/>
          <p:nvPr/>
        </p:nvGrpSpPr>
        <p:grpSpPr>
          <a:xfrm>
            <a:off x="-194950" y="-128125"/>
            <a:ext cx="9704450" cy="5401175"/>
            <a:chOff x="-194950" y="-128125"/>
            <a:chExt cx="9704450" cy="5401175"/>
          </a:xfrm>
        </p:grpSpPr>
        <p:sp>
          <p:nvSpPr>
            <p:cNvPr id="67" name="Google Shape;67;p14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68" name="Google Shape;68;p14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69" name="Google Shape;69;p14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70" name="Google Shape;70;p14"/>
            <p:cNvSpPr/>
            <p:nvPr/>
          </p:nvSpPr>
          <p:spPr>
            <a:xfrm rot="10800000">
              <a:off x="7430810" y="3139819"/>
              <a:ext cx="2078690" cy="2133231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71" name="Google Shape;71;p14"/>
          <p:cNvSpPr txBox="1"/>
          <p:nvPr/>
        </p:nvSpPr>
        <p:spPr>
          <a:xfrm>
            <a:off x="3289825" y="470475"/>
            <a:ext cx="52557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Olimpiyatların tarihi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4" title="olimpiya.jpg"/>
          <p:cNvPicPr preferRelativeResize="0"/>
          <p:nvPr/>
        </p:nvPicPr>
        <p:blipFill rotWithShape="1">
          <a:blip r:embed="rId3">
            <a:alphaModFix/>
          </a:blip>
          <a:srcRect b="0" l="0" r="0" t="17156"/>
          <a:stretch/>
        </p:blipFill>
        <p:spPr>
          <a:xfrm>
            <a:off x="6648675" y="2501975"/>
            <a:ext cx="2219700" cy="1395600"/>
          </a:xfrm>
          <a:prstGeom prst="snip2DiagRect">
            <a:avLst>
              <a:gd fmla="val 2857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idx="4294967295" type="subTitle"/>
          </p:nvPr>
        </p:nvSpPr>
        <p:spPr>
          <a:xfrm>
            <a:off x="577900" y="1950625"/>
            <a:ext cx="8931600" cy="279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Temelleri  MÖ 8. yüzyılda </a:t>
            </a:r>
            <a:r>
              <a:rPr lang="ru" sz="2400"/>
              <a:t>Olimpiya’da</a:t>
            </a:r>
            <a:r>
              <a:rPr lang="ru" sz="2400"/>
              <a:t> yapılan antik oyunlara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dayanır, ve ilk modern olimpiyat 1896’da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gerçekleşmiştir. 1924 yılından sonra, Kış 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Olimpiyatları düzenlenmeye başlamıştır.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Savaşlar yüzünden 1916’da ve 1940’tan</a:t>
            </a:r>
            <a:endParaRPr sz="2400"/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/>
              <a:t>1944’e kadar oyunlar gerçekleşmedi.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79" name="Google Shape;79;p15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80" name="Google Shape;80;p15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81" name="Google Shape;81;p15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82" name="Google Shape;82;p15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83" name="Google Shape;83;p15"/>
          <p:cNvSpPr txBox="1"/>
          <p:nvPr/>
        </p:nvSpPr>
        <p:spPr>
          <a:xfrm>
            <a:off x="3209675" y="390750"/>
            <a:ext cx="54525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Modern </a:t>
            </a: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45200" y="2023375"/>
            <a:ext cx="82536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2"/>
                </a:solidFill>
              </a:rPr>
              <a:t>23 Haziran 1894'te Uluslararası Olimpiyat Komitesi ilk kez toplandı ve Olimpiyat Oyunlarının yeniden düzenlenmesine ve ilk olimpiyatların 1896'da Atina'da düzenlenmesine karar verildi.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6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90" name="Google Shape;90;p16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91" name="Google Shape;91;p16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92" name="Google Shape;92;p16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93" name="Google Shape;93;p16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94" name="Google Shape;94;p16"/>
          <p:cNvSpPr txBox="1"/>
          <p:nvPr/>
        </p:nvSpPr>
        <p:spPr>
          <a:xfrm>
            <a:off x="1937088" y="1038650"/>
            <a:ext cx="52557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 Halkaların renkleri ne demektir?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>
            <p:ph idx="4294967295" type="subTitle"/>
          </p:nvPr>
        </p:nvSpPr>
        <p:spPr>
          <a:xfrm>
            <a:off x="1785900" y="2884750"/>
            <a:ext cx="55722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393939"/>
                </a:solidFill>
              </a:rPr>
              <a:t>Halkaların rengi kıtaları temsil eder.</a:t>
            </a:r>
            <a:endParaRPr sz="2600">
              <a:solidFill>
                <a:srgbClr val="39393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600">
                <a:solidFill>
                  <a:srgbClr val="393939"/>
                </a:solidFill>
              </a:rPr>
              <a:t>                 (sonraki slayt)</a:t>
            </a:r>
            <a:endParaRPr sz="2600">
              <a:solidFill>
                <a:srgbClr val="39393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7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01" name="Google Shape;101;p17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02" name="Google Shape;102;p17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03" name="Google Shape;103;p17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04" name="Google Shape;104;p17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pic>
        <p:nvPicPr>
          <p:cNvPr id="105" name="Google Shape;105;p17" title="olimpiy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186563"/>
            <a:ext cx="5715000" cy="277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7"/>
          <p:cNvCxnSpPr/>
          <p:nvPr/>
        </p:nvCxnSpPr>
        <p:spPr>
          <a:xfrm flipH="1">
            <a:off x="1236150" y="2423450"/>
            <a:ext cx="765300" cy="337800"/>
          </a:xfrm>
          <a:prstGeom prst="straightConnector1">
            <a:avLst/>
          </a:prstGeom>
          <a:noFill/>
          <a:ln cap="flat" cmpd="sng" w="28575">
            <a:solidFill>
              <a:srgbClr val="0085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7"/>
          <p:cNvSpPr txBox="1"/>
          <p:nvPr/>
        </p:nvSpPr>
        <p:spPr>
          <a:xfrm>
            <a:off x="378775" y="2830925"/>
            <a:ext cx="1285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78775" y="2661450"/>
            <a:ext cx="1285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0085C7"/>
                </a:solidFill>
                <a:latin typeface="Roboto"/>
                <a:ea typeface="Roboto"/>
                <a:cs typeface="Roboto"/>
                <a:sym typeface="Roboto"/>
              </a:rPr>
              <a:t>Avrupa</a:t>
            </a:r>
            <a:endParaRPr sz="2400">
              <a:solidFill>
                <a:srgbClr val="0085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 flipH="1">
            <a:off x="2601700" y="3379150"/>
            <a:ext cx="358800" cy="418800"/>
          </a:xfrm>
          <a:prstGeom prst="straightConnector1">
            <a:avLst/>
          </a:prstGeom>
          <a:noFill/>
          <a:ln cap="flat" cmpd="sng" w="28575">
            <a:solidFill>
              <a:srgbClr val="F4C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7"/>
          <p:cNvSpPr txBox="1"/>
          <p:nvPr/>
        </p:nvSpPr>
        <p:spPr>
          <a:xfrm>
            <a:off x="2141000" y="3701050"/>
            <a:ext cx="934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D4A900"/>
                </a:solidFill>
                <a:latin typeface="Roboto"/>
                <a:ea typeface="Roboto"/>
                <a:cs typeface="Roboto"/>
                <a:sym typeface="Roboto"/>
              </a:rPr>
              <a:t>Asya</a:t>
            </a:r>
            <a:endParaRPr sz="2400">
              <a:solidFill>
                <a:srgbClr val="D4A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" name="Google Shape;111;p17"/>
          <p:cNvCxnSpPr/>
          <p:nvPr/>
        </p:nvCxnSpPr>
        <p:spPr>
          <a:xfrm flipH="1">
            <a:off x="4667825" y="887150"/>
            <a:ext cx="495600" cy="5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4717675" y="424450"/>
            <a:ext cx="11406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Afrika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 flipH="1">
            <a:off x="5203375" y="3701050"/>
            <a:ext cx="122400" cy="515400"/>
          </a:xfrm>
          <a:prstGeom prst="straightConnector1">
            <a:avLst/>
          </a:prstGeom>
          <a:noFill/>
          <a:ln cap="flat" cmpd="sng" w="28575">
            <a:solidFill>
              <a:srgbClr val="009F3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7"/>
          <p:cNvSpPr txBox="1"/>
          <p:nvPr/>
        </p:nvSpPr>
        <p:spPr>
          <a:xfrm>
            <a:off x="4292875" y="4132475"/>
            <a:ext cx="16482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009F3D"/>
                </a:solidFill>
                <a:latin typeface="Roboto"/>
                <a:ea typeface="Roboto"/>
                <a:cs typeface="Roboto"/>
                <a:sym typeface="Roboto"/>
              </a:rPr>
              <a:t>Avustralya</a:t>
            </a:r>
            <a:endParaRPr sz="2400">
              <a:solidFill>
                <a:srgbClr val="009F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7"/>
          <p:cNvCxnSpPr/>
          <p:nvPr/>
        </p:nvCxnSpPr>
        <p:spPr>
          <a:xfrm rot="10800000">
            <a:off x="7177050" y="2203400"/>
            <a:ext cx="318900" cy="418200"/>
          </a:xfrm>
          <a:prstGeom prst="straightConnector1">
            <a:avLst/>
          </a:prstGeom>
          <a:noFill/>
          <a:ln cap="flat" cmpd="sng" w="28575">
            <a:solidFill>
              <a:srgbClr val="DF00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7"/>
          <p:cNvSpPr txBox="1"/>
          <p:nvPr/>
        </p:nvSpPr>
        <p:spPr>
          <a:xfrm>
            <a:off x="7177050" y="2513175"/>
            <a:ext cx="1372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DF0024"/>
                </a:solidFill>
                <a:latin typeface="Roboto"/>
                <a:ea typeface="Roboto"/>
                <a:cs typeface="Roboto"/>
                <a:sym typeface="Roboto"/>
              </a:rPr>
              <a:t>Amerika</a:t>
            </a:r>
            <a:endParaRPr sz="2400">
              <a:solidFill>
                <a:srgbClr val="DF00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8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22" name="Google Shape;122;p18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23" name="Google Shape;123;p18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24" name="Google Shape;124;p18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25" name="Google Shape;125;p18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pic>
        <p:nvPicPr>
          <p:cNvPr id="126" name="Google Shape;126;p18" title="mesa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2438" y="251700"/>
            <a:ext cx="3645000" cy="2050500"/>
          </a:xfrm>
          <a:prstGeom prst="snip2DiagRect">
            <a:avLst>
              <a:gd fmla="val 43878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1704525" y="3012350"/>
            <a:ext cx="46830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 ateşi ne demektir?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9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33" name="Google Shape;133;p19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34" name="Google Shape;134;p19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35" name="Google Shape;135;p19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36" name="Google Shape;136;p19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37" name="Google Shape;137;p19"/>
          <p:cNvSpPr txBox="1"/>
          <p:nvPr>
            <p:ph idx="4294967295" type="subTitle"/>
          </p:nvPr>
        </p:nvSpPr>
        <p:spPr>
          <a:xfrm>
            <a:off x="2513575" y="392775"/>
            <a:ext cx="63780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600">
                <a:solidFill>
                  <a:srgbClr val="1A1B1B"/>
                </a:solidFill>
              </a:rPr>
              <a:t>Olimpiyat ateşi Olimpiyatların sembolüdür ve Antik Yunanistan’da başlar.</a:t>
            </a:r>
            <a:endParaRPr sz="2600">
              <a:solidFill>
                <a:srgbClr val="1A1B1B"/>
              </a:solidFill>
            </a:endParaRPr>
          </a:p>
        </p:txBody>
      </p:sp>
      <p:sp>
        <p:nvSpPr>
          <p:cNvPr id="138" name="Google Shape;138;p19"/>
          <p:cNvSpPr txBox="1"/>
          <p:nvPr>
            <p:ph idx="4294967295" type="subTitle"/>
          </p:nvPr>
        </p:nvSpPr>
        <p:spPr>
          <a:xfrm>
            <a:off x="433175" y="2077563"/>
            <a:ext cx="8263500" cy="202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Olimpiyat ateşi birçok Antik Yunan efsaneleri bugüne kadar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ulaştırmış. Mesela bir tanesine göre Prometheus, Zeus’tan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/>
              <a:t>ateş gücünü çalar.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Ayrıca ateş, hayatın, özgürlüğün ve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latin typeface="Roboto"/>
                <a:ea typeface="Roboto"/>
                <a:cs typeface="Roboto"/>
                <a:sym typeface="Roboto"/>
              </a:rPr>
              <a:t>yaratıcılığın sembolüdür.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0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44" name="Google Shape;144;p20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45" name="Google Shape;145;p20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46" name="Google Shape;146;p20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47" name="Google Shape;147;p20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48" name="Google Shape;148;p20"/>
          <p:cNvSpPr txBox="1"/>
          <p:nvPr/>
        </p:nvSpPr>
        <p:spPr>
          <a:xfrm>
            <a:off x="2492025" y="620025"/>
            <a:ext cx="6120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 ateşi her zaman yakıldı mı?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0"/>
          <p:cNvSpPr txBox="1"/>
          <p:nvPr>
            <p:ph idx="4294967295" type="subTitle"/>
          </p:nvPr>
        </p:nvSpPr>
        <p:spPr>
          <a:xfrm>
            <a:off x="371688" y="2372400"/>
            <a:ext cx="8386500" cy="245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rgbClr val="393939"/>
                </a:solidFill>
              </a:rPr>
              <a:t>Hayır. Ateş, oyunların sembol hâline sadece 1928’den itibaren Amsterdam’da geldi, fakat meşalenin yakılması için daha seremoni </a:t>
            </a:r>
            <a:r>
              <a:rPr lang="ru" sz="2300">
                <a:solidFill>
                  <a:srgbClr val="393939"/>
                </a:solidFill>
                <a:latin typeface="Roboto"/>
                <a:ea typeface="Roboto"/>
                <a:cs typeface="Roboto"/>
                <a:sym typeface="Roboto"/>
              </a:rPr>
              <a:t>yapılmadı. Ateşin yakılması ve ardından seremoninin gerçekleşmesi ilk defa 1936’da Berlin’de görüldü.</a:t>
            </a:r>
            <a:endParaRPr sz="2300">
              <a:solidFill>
                <a:srgbClr val="39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1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55" name="Google Shape;155;p21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56" name="Google Shape;156;p21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57" name="Google Shape;157;p21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58" name="Google Shape;158;p21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59" name="Google Shape;159;p21"/>
          <p:cNvSpPr txBox="1"/>
          <p:nvPr/>
        </p:nvSpPr>
        <p:spPr>
          <a:xfrm>
            <a:off x="1116738" y="1515175"/>
            <a:ext cx="68964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Olimpiyatlardaki sporları ikiye ayrılır – Yaz sporları ve kış sporları</a:t>
            </a:r>
            <a:endParaRPr sz="4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65" name="Google Shape;165;p22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66" name="Google Shape;166;p22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67" name="Google Shape;167;p22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68" name="Google Shape;168;p22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69" name="Google Shape;169;p22"/>
          <p:cNvSpPr txBox="1"/>
          <p:nvPr/>
        </p:nvSpPr>
        <p:spPr>
          <a:xfrm>
            <a:off x="2561800" y="450550"/>
            <a:ext cx="6120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Yaz sporlardan bazıları 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şunlardır :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2"/>
          <p:cNvSpPr txBox="1"/>
          <p:nvPr>
            <p:ph idx="4294967295" type="subTitle"/>
          </p:nvPr>
        </p:nvSpPr>
        <p:spPr>
          <a:xfrm>
            <a:off x="508300" y="2242825"/>
            <a:ext cx="2183100" cy="279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Badminton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Basketbol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Futbol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Golf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Güreş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Okçuluk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Su sporları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Voleybol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93939"/>
              </a:solidFill>
            </a:endParaRPr>
          </a:p>
        </p:txBody>
      </p:sp>
      <p:pic>
        <p:nvPicPr>
          <p:cNvPr id="171" name="Google Shape;171;p22" title="voleybol-topu-12894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797494">
            <a:off x="6777906" y="1745025"/>
            <a:ext cx="1850274" cy="18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 title="badmint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521871">
            <a:off x="2534863" y="3494458"/>
            <a:ext cx="1875528" cy="1875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yuzm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6975" y="2141175"/>
            <a:ext cx="3084300" cy="2061600"/>
          </a:xfrm>
          <a:prstGeom prst="snip2DiagRect">
            <a:avLst>
              <a:gd fmla="val 0" name="adj1"/>
              <a:gd fmla="val 46522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3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79" name="Google Shape;179;p23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80" name="Google Shape;180;p23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81" name="Google Shape;181;p23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82" name="Google Shape;182;p23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83" name="Google Shape;183;p23"/>
          <p:cNvSpPr txBox="1"/>
          <p:nvPr/>
        </p:nvSpPr>
        <p:spPr>
          <a:xfrm>
            <a:off x="2561800" y="450550"/>
            <a:ext cx="6120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Kış </a:t>
            </a: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sporlardan bazıları 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şunlardır :</a:t>
            </a:r>
            <a:endParaRPr sz="3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3"/>
          <p:cNvSpPr txBox="1"/>
          <p:nvPr>
            <p:ph idx="4294967295" type="subTitle"/>
          </p:nvPr>
        </p:nvSpPr>
        <p:spPr>
          <a:xfrm>
            <a:off x="508300" y="2242825"/>
            <a:ext cx="2611800" cy="215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Biatlon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Kayakla</a:t>
            </a: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 atlama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Snowboard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Artistik buz pateni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Buz hokeyi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3565A"/>
              </a:buClr>
              <a:buSzPts val="1900"/>
              <a:buChar char="-"/>
            </a:pPr>
            <a:r>
              <a:rPr lang="ru" sz="1900">
                <a:solidFill>
                  <a:srgbClr val="53565A"/>
                </a:solidFill>
                <a:highlight>
                  <a:srgbClr val="FFFFFF"/>
                </a:highlight>
              </a:rPr>
              <a:t>Sürat pateni</a:t>
            </a:r>
            <a:endParaRPr sz="1900">
              <a:solidFill>
                <a:srgbClr val="53565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93939"/>
              </a:solidFill>
            </a:endParaRPr>
          </a:p>
        </p:txBody>
      </p:sp>
      <p:pic>
        <p:nvPicPr>
          <p:cNvPr id="185" name="Google Shape;185;p23" title="biatl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300" y="3038275"/>
            <a:ext cx="2961300" cy="1955400"/>
          </a:xfrm>
          <a:prstGeom prst="snip2DiagRect">
            <a:avLst>
              <a:gd fmla="val 0" name="adj1"/>
              <a:gd fmla="val 45790" name="adj2"/>
            </a:avLst>
          </a:prstGeom>
          <a:noFill/>
          <a:ln>
            <a:noFill/>
          </a:ln>
        </p:spPr>
      </p:pic>
      <p:pic>
        <p:nvPicPr>
          <p:cNvPr id="186" name="Google Shape;186;p23" title="buzhokeyi.jpg"/>
          <p:cNvPicPr preferRelativeResize="0"/>
          <p:nvPr/>
        </p:nvPicPr>
        <p:blipFill rotWithShape="1">
          <a:blip r:embed="rId4">
            <a:alphaModFix/>
          </a:blip>
          <a:srcRect b="14104" l="11245" r="-3726" t="0"/>
          <a:stretch/>
        </p:blipFill>
        <p:spPr>
          <a:xfrm>
            <a:off x="6346450" y="1598163"/>
            <a:ext cx="2747700" cy="1709400"/>
          </a:xfrm>
          <a:prstGeom prst="snip2DiagRect">
            <a:avLst>
              <a:gd fmla="val 17915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4"/>
          <p:cNvGrpSpPr/>
          <p:nvPr/>
        </p:nvGrpSpPr>
        <p:grpSpPr>
          <a:xfrm>
            <a:off x="-194950" y="-128125"/>
            <a:ext cx="9519775" cy="5401175"/>
            <a:chOff x="-194950" y="-128125"/>
            <a:chExt cx="9519775" cy="5401175"/>
          </a:xfrm>
        </p:grpSpPr>
        <p:sp>
          <p:nvSpPr>
            <p:cNvPr id="192" name="Google Shape;192;p24"/>
            <p:cNvSpPr/>
            <p:nvPr/>
          </p:nvSpPr>
          <p:spPr>
            <a:xfrm>
              <a:off x="241025" y="-3802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93" name="Google Shape;193;p24"/>
            <p:cNvSpPr/>
            <p:nvPr/>
          </p:nvSpPr>
          <p:spPr>
            <a:xfrm>
              <a:off x="-194950" y="-128125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  <p:sp>
          <p:nvSpPr>
            <p:cNvPr id="194" name="Google Shape;194;p24"/>
            <p:cNvSpPr/>
            <p:nvPr/>
          </p:nvSpPr>
          <p:spPr>
            <a:xfrm rot="10800000">
              <a:off x="6360625" y="3999975"/>
              <a:ext cx="2528225" cy="1182975"/>
            </a:xfrm>
            <a:custGeom>
              <a:rect b="b" l="l" r="r" t="t"/>
              <a:pathLst>
                <a:path extrusionOk="0" h="47319" w="101129">
                  <a:moveTo>
                    <a:pt x="0" y="47319"/>
                  </a:moveTo>
                  <a:lnTo>
                    <a:pt x="54280" y="47225"/>
                  </a:lnTo>
                  <a:lnTo>
                    <a:pt x="101129" y="471"/>
                  </a:lnTo>
                  <a:lnTo>
                    <a:pt x="54374" y="0"/>
                  </a:lnTo>
                  <a:close/>
                </a:path>
              </a:pathLst>
            </a:custGeom>
            <a:solidFill>
              <a:srgbClr val="D0B387"/>
            </a:solidFill>
            <a:ln>
              <a:noFill/>
            </a:ln>
          </p:spPr>
        </p:sp>
        <p:sp>
          <p:nvSpPr>
            <p:cNvPr id="195" name="Google Shape;195;p24"/>
            <p:cNvSpPr/>
            <p:nvPr/>
          </p:nvSpPr>
          <p:spPr>
            <a:xfrm rot="10800000">
              <a:off x="7430975" y="3117400"/>
              <a:ext cx="1893850" cy="2155650"/>
            </a:xfrm>
            <a:custGeom>
              <a:rect b="b" l="l" r="r" t="t"/>
              <a:pathLst>
                <a:path extrusionOk="0" h="86226" w="75754">
                  <a:moveTo>
                    <a:pt x="0" y="0"/>
                  </a:moveTo>
                  <a:lnTo>
                    <a:pt x="7352" y="86226"/>
                  </a:lnTo>
                  <a:lnTo>
                    <a:pt x="75754" y="445"/>
                  </a:lnTo>
                  <a:close/>
                </a:path>
              </a:pathLst>
            </a:custGeom>
            <a:solidFill>
              <a:srgbClr val="284169"/>
            </a:solidFill>
            <a:ln>
              <a:noFill/>
            </a:ln>
          </p:spPr>
        </p:sp>
      </p:grpSp>
      <p:sp>
        <p:nvSpPr>
          <p:cNvPr id="196" name="Google Shape;196;p24"/>
          <p:cNvSpPr txBox="1"/>
          <p:nvPr/>
        </p:nvSpPr>
        <p:spPr>
          <a:xfrm>
            <a:off x="3523650" y="1006750"/>
            <a:ext cx="20967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500">
                <a:solidFill>
                  <a:schemeClr val="dk1"/>
                </a:solidFill>
              </a:rPr>
              <a:t>SON</a:t>
            </a:r>
            <a:endParaRPr sz="6500">
              <a:solidFill>
                <a:schemeClr val="dk1"/>
              </a:solidFill>
            </a:endParaRPr>
          </a:p>
        </p:txBody>
      </p:sp>
      <p:sp>
        <p:nvSpPr>
          <p:cNvPr id="197" name="Google Shape;197;p24"/>
          <p:cNvSpPr txBox="1"/>
          <p:nvPr>
            <p:ph idx="4294967295" type="subTitle"/>
          </p:nvPr>
        </p:nvSpPr>
        <p:spPr>
          <a:xfrm>
            <a:off x="1996800" y="4176700"/>
            <a:ext cx="5150400" cy="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393939"/>
                </a:solidFill>
              </a:rPr>
              <a:t>Sunumu hazırlayan Teoman Ertürk</a:t>
            </a:r>
            <a:endParaRPr sz="2200">
              <a:solidFill>
                <a:srgbClr val="3939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393939"/>
                </a:solidFill>
              </a:rPr>
              <a:t>(Beden eğitimi için)</a:t>
            </a:r>
            <a:endParaRPr sz="2200">
              <a:solidFill>
                <a:srgbClr val="393939"/>
              </a:solidFill>
            </a:endParaRPr>
          </a:p>
        </p:txBody>
      </p:sp>
      <p:sp>
        <p:nvSpPr>
          <p:cNvPr id="198" name="Google Shape;198;p24"/>
          <p:cNvSpPr txBox="1"/>
          <p:nvPr>
            <p:ph idx="4294967295" type="subTitle"/>
          </p:nvPr>
        </p:nvSpPr>
        <p:spPr>
          <a:xfrm>
            <a:off x="2458800" y="2738875"/>
            <a:ext cx="42264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>
                <a:solidFill>
                  <a:schemeClr val="dk1"/>
                </a:solidFill>
              </a:rPr>
              <a:t>Sunum bitmiştir!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