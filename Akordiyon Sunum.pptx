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erriweath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erriweather-bold.fntdata"/><Relationship Id="rId16" Type="http://schemas.openxmlformats.org/officeDocument/2006/relationships/font" Target="fonts/Merriweath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6af2345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6af2345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6af23459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6af23459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6af23459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6af23459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6af23459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6af23459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6af23459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6af23459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6af23459c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c6af23459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6af23459c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c6af23459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6af23459c_3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c6af23459c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6af23459c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c6af23459c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b5BiVNdi-CiwS2AnKwZrrVrLqLcyDHuq/view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-121875" y="-1195574"/>
            <a:ext cx="9435150" cy="6518999"/>
            <a:chOff x="-121875" y="-1195574"/>
            <a:chExt cx="9435150" cy="6518999"/>
          </a:xfrm>
        </p:grpSpPr>
        <p:sp>
          <p:nvSpPr>
            <p:cNvPr id="55" name="Google Shape;55;p13"/>
            <p:cNvSpPr/>
            <p:nvPr/>
          </p:nvSpPr>
          <p:spPr>
            <a:xfrm rot="5400000">
              <a:off x="53575" y="-53700"/>
              <a:ext cx="1166700" cy="12741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 rot="-2700000">
              <a:off x="6659831" y="-918271"/>
              <a:ext cx="1347038" cy="1358494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 rot="-5400000">
              <a:off x="7892125" y="3893525"/>
              <a:ext cx="1164600" cy="13392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8" name="Google Shape;58;p13"/>
            <p:cNvCxnSpPr/>
            <p:nvPr/>
          </p:nvCxnSpPr>
          <p:spPr>
            <a:xfrm>
              <a:off x="6619875" y="-59525"/>
              <a:ext cx="2693400" cy="23808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" name="Google Shape;59;p13"/>
            <p:cNvCxnSpPr/>
            <p:nvPr/>
          </p:nvCxnSpPr>
          <p:spPr>
            <a:xfrm flipH="1" rot="10800000">
              <a:off x="8074700" y="1220575"/>
              <a:ext cx="1091400" cy="9429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" name="Google Shape;60;p13"/>
            <p:cNvCxnSpPr/>
            <p:nvPr/>
          </p:nvCxnSpPr>
          <p:spPr>
            <a:xfrm>
              <a:off x="8078325" y="2161625"/>
              <a:ext cx="1174200" cy="10314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" name="Google Shape;61;p13"/>
            <p:cNvCxnSpPr/>
            <p:nvPr/>
          </p:nvCxnSpPr>
          <p:spPr>
            <a:xfrm flipH="1">
              <a:off x="4154950" y="4506525"/>
              <a:ext cx="957600" cy="8169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5111350" y="4509500"/>
              <a:ext cx="815700" cy="6915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" name="Google Shape;63;p13"/>
            <p:cNvSpPr/>
            <p:nvPr/>
          </p:nvSpPr>
          <p:spPr>
            <a:xfrm>
              <a:off x="-117075" y="3893525"/>
              <a:ext cx="1164600" cy="13392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4" name="Google Shape;64;p13"/>
            <p:cNvCxnSpPr/>
            <p:nvPr/>
          </p:nvCxnSpPr>
          <p:spPr>
            <a:xfrm flipH="1" rot="10800000">
              <a:off x="-121875" y="3088925"/>
              <a:ext cx="804600" cy="8046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13"/>
            <p:cNvCxnSpPr/>
            <p:nvPr/>
          </p:nvCxnSpPr>
          <p:spPr>
            <a:xfrm rot="10800000">
              <a:off x="-95475" y="2301425"/>
              <a:ext cx="778200" cy="7782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6" name="Google Shape;66;p13"/>
          <p:cNvSpPr txBox="1"/>
          <p:nvPr/>
        </p:nvSpPr>
        <p:spPr>
          <a:xfrm>
            <a:off x="1676250" y="1579725"/>
            <a:ext cx="5791500" cy="9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rgbClr val="E5813D"/>
                </a:solidFill>
                <a:latin typeface="Merriweather"/>
                <a:ea typeface="Merriweather"/>
                <a:cs typeface="Merriweather"/>
                <a:sym typeface="Merriweather"/>
              </a:rPr>
              <a:t>Akordiyon Sunum</a:t>
            </a:r>
            <a:endParaRPr sz="5600">
              <a:solidFill>
                <a:srgbClr val="E5813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2063700" y="3638925"/>
            <a:ext cx="501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E6955D"/>
                </a:solidFill>
                <a:latin typeface="Merriweather"/>
                <a:ea typeface="Merriweather"/>
                <a:cs typeface="Merriweather"/>
                <a:sym typeface="Merriweather"/>
              </a:rPr>
              <a:t>Sunumu Hazırlayan Teoman Ertürk</a:t>
            </a:r>
            <a:endParaRPr sz="2200">
              <a:solidFill>
                <a:srgbClr val="E6955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4"/>
          <p:cNvGrpSpPr/>
          <p:nvPr/>
        </p:nvGrpSpPr>
        <p:grpSpPr>
          <a:xfrm>
            <a:off x="-121875" y="-1195574"/>
            <a:ext cx="9435150" cy="6518999"/>
            <a:chOff x="-121875" y="-1195574"/>
            <a:chExt cx="9435150" cy="6518999"/>
          </a:xfrm>
        </p:grpSpPr>
        <p:sp>
          <p:nvSpPr>
            <p:cNvPr id="73" name="Google Shape;73;p14"/>
            <p:cNvSpPr/>
            <p:nvPr/>
          </p:nvSpPr>
          <p:spPr>
            <a:xfrm rot="5400000">
              <a:off x="53575" y="-53700"/>
              <a:ext cx="1166700" cy="12741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 rot="-2700000">
              <a:off x="6659831" y="-918271"/>
              <a:ext cx="1347038" cy="1358494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 rot="-5400000">
              <a:off x="7892125" y="3893525"/>
              <a:ext cx="1164600" cy="13392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6" name="Google Shape;76;p14"/>
            <p:cNvCxnSpPr/>
            <p:nvPr/>
          </p:nvCxnSpPr>
          <p:spPr>
            <a:xfrm>
              <a:off x="6619875" y="-59525"/>
              <a:ext cx="2693400" cy="23808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14"/>
            <p:cNvCxnSpPr/>
            <p:nvPr/>
          </p:nvCxnSpPr>
          <p:spPr>
            <a:xfrm flipH="1" rot="10800000">
              <a:off x="8074700" y="1220575"/>
              <a:ext cx="1091400" cy="9429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" name="Google Shape;78;p14"/>
            <p:cNvCxnSpPr/>
            <p:nvPr/>
          </p:nvCxnSpPr>
          <p:spPr>
            <a:xfrm>
              <a:off x="8078325" y="2161625"/>
              <a:ext cx="1174200" cy="10314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" name="Google Shape;79;p14"/>
            <p:cNvCxnSpPr/>
            <p:nvPr/>
          </p:nvCxnSpPr>
          <p:spPr>
            <a:xfrm flipH="1">
              <a:off x="4154950" y="4506525"/>
              <a:ext cx="957600" cy="8169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" name="Google Shape;80;p14"/>
            <p:cNvCxnSpPr/>
            <p:nvPr/>
          </p:nvCxnSpPr>
          <p:spPr>
            <a:xfrm>
              <a:off x="5111350" y="4509500"/>
              <a:ext cx="815700" cy="6915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1" name="Google Shape;81;p14"/>
            <p:cNvSpPr/>
            <p:nvPr/>
          </p:nvSpPr>
          <p:spPr>
            <a:xfrm>
              <a:off x="-117075" y="3893525"/>
              <a:ext cx="1164600" cy="13392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2" name="Google Shape;82;p14"/>
            <p:cNvCxnSpPr/>
            <p:nvPr/>
          </p:nvCxnSpPr>
          <p:spPr>
            <a:xfrm flipH="1" rot="10800000">
              <a:off x="-121875" y="3088925"/>
              <a:ext cx="804600" cy="8046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" name="Google Shape;83;p14"/>
            <p:cNvCxnSpPr/>
            <p:nvPr/>
          </p:nvCxnSpPr>
          <p:spPr>
            <a:xfrm rot="10800000">
              <a:off x="-95475" y="2301425"/>
              <a:ext cx="778200" cy="7782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4" name="Google Shape;84;p14"/>
          <p:cNvSpPr txBox="1"/>
          <p:nvPr/>
        </p:nvSpPr>
        <p:spPr>
          <a:xfrm>
            <a:off x="1476375" y="440550"/>
            <a:ext cx="2952900" cy="1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rgbClr val="E5813D"/>
                </a:solidFill>
                <a:latin typeface="Merriweather"/>
                <a:ea typeface="Merriweather"/>
                <a:cs typeface="Merriweather"/>
                <a:sym typeface="Merriweather"/>
              </a:rPr>
              <a:t>Akordiyon nedir?</a:t>
            </a:r>
            <a:endParaRPr sz="4000">
              <a:solidFill>
                <a:srgbClr val="E5813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1436850" y="2981650"/>
            <a:ext cx="6270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E6955D"/>
                </a:solidFill>
                <a:latin typeface="Merriweather"/>
                <a:ea typeface="Merriweather"/>
                <a:cs typeface="Merriweather"/>
                <a:sym typeface="Merriweather"/>
              </a:rPr>
              <a:t>Akordiyon, körükten hava akımının metal ile</a:t>
            </a:r>
            <a:endParaRPr sz="2200">
              <a:solidFill>
                <a:srgbClr val="E6955D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E6955D"/>
                </a:solidFill>
                <a:latin typeface="Merriweather"/>
                <a:ea typeface="Merriweather"/>
                <a:cs typeface="Merriweather"/>
                <a:sym typeface="Merriweather"/>
              </a:rPr>
              <a:t>etkileşimi sonucu ses çıkaran enstrümandır.</a:t>
            </a:r>
            <a:endParaRPr sz="2200">
              <a:solidFill>
                <a:srgbClr val="E6955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86" name="Google Shape;86;p14" title="accrn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79404">
            <a:off x="4699055" y="426112"/>
            <a:ext cx="3133019" cy="2046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5"/>
          <p:cNvGrpSpPr/>
          <p:nvPr/>
        </p:nvGrpSpPr>
        <p:grpSpPr>
          <a:xfrm>
            <a:off x="-121875" y="-1195574"/>
            <a:ext cx="9435150" cy="6518999"/>
            <a:chOff x="-121875" y="-1195574"/>
            <a:chExt cx="9435150" cy="6518999"/>
          </a:xfrm>
        </p:grpSpPr>
        <p:sp>
          <p:nvSpPr>
            <p:cNvPr id="92" name="Google Shape;92;p15"/>
            <p:cNvSpPr/>
            <p:nvPr/>
          </p:nvSpPr>
          <p:spPr>
            <a:xfrm rot="5400000">
              <a:off x="53575" y="-53700"/>
              <a:ext cx="1166700" cy="12741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 rot="-2700000">
              <a:off x="6659831" y="-918271"/>
              <a:ext cx="1347038" cy="1358494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 rot="-5400000">
              <a:off x="7892125" y="3893525"/>
              <a:ext cx="1164600" cy="13392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5" name="Google Shape;95;p15"/>
            <p:cNvCxnSpPr/>
            <p:nvPr/>
          </p:nvCxnSpPr>
          <p:spPr>
            <a:xfrm>
              <a:off x="6619875" y="-59525"/>
              <a:ext cx="2693400" cy="23808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" name="Google Shape;96;p15"/>
            <p:cNvCxnSpPr/>
            <p:nvPr/>
          </p:nvCxnSpPr>
          <p:spPr>
            <a:xfrm flipH="1" rot="10800000">
              <a:off x="8074700" y="1220575"/>
              <a:ext cx="1091400" cy="9429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" name="Google Shape;97;p15"/>
            <p:cNvCxnSpPr/>
            <p:nvPr/>
          </p:nvCxnSpPr>
          <p:spPr>
            <a:xfrm>
              <a:off x="8078325" y="2161625"/>
              <a:ext cx="1174200" cy="10314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" name="Google Shape;98;p15"/>
            <p:cNvCxnSpPr/>
            <p:nvPr/>
          </p:nvCxnSpPr>
          <p:spPr>
            <a:xfrm flipH="1">
              <a:off x="4154950" y="4506525"/>
              <a:ext cx="957600" cy="8169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" name="Google Shape;99;p15"/>
            <p:cNvCxnSpPr/>
            <p:nvPr/>
          </p:nvCxnSpPr>
          <p:spPr>
            <a:xfrm>
              <a:off x="5111350" y="4509500"/>
              <a:ext cx="815700" cy="6915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0" name="Google Shape;100;p15"/>
            <p:cNvSpPr/>
            <p:nvPr/>
          </p:nvSpPr>
          <p:spPr>
            <a:xfrm>
              <a:off x="-117075" y="3893525"/>
              <a:ext cx="1164600" cy="13392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1" name="Google Shape;101;p15"/>
            <p:cNvCxnSpPr/>
            <p:nvPr/>
          </p:nvCxnSpPr>
          <p:spPr>
            <a:xfrm flipH="1" rot="10800000">
              <a:off x="-121875" y="3088925"/>
              <a:ext cx="804600" cy="8046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15"/>
            <p:cNvCxnSpPr/>
            <p:nvPr/>
          </p:nvCxnSpPr>
          <p:spPr>
            <a:xfrm rot="10800000">
              <a:off x="-95475" y="2301425"/>
              <a:ext cx="778200" cy="7782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3" name="Google Shape;103;p15"/>
          <p:cNvSpPr txBox="1"/>
          <p:nvPr/>
        </p:nvSpPr>
        <p:spPr>
          <a:xfrm>
            <a:off x="2881325" y="178500"/>
            <a:ext cx="3893400" cy="19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>
                <a:solidFill>
                  <a:srgbClr val="E5813D"/>
                </a:solidFill>
                <a:latin typeface="Merriweather"/>
                <a:ea typeface="Merriweather"/>
                <a:cs typeface="Merriweather"/>
                <a:sym typeface="Merriweather"/>
              </a:rPr>
              <a:t>Akordiyon ne zaman icat edilmiş?</a:t>
            </a:r>
            <a:endParaRPr sz="3800">
              <a:solidFill>
                <a:srgbClr val="E5813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1333500" y="2335600"/>
            <a:ext cx="64770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E6955D"/>
                </a:solidFill>
                <a:latin typeface="Merriweather"/>
                <a:ea typeface="Merriweather"/>
                <a:cs typeface="Merriweather"/>
                <a:sym typeface="Merriweather"/>
              </a:rPr>
              <a:t>Akordiyonun</a:t>
            </a:r>
            <a:r>
              <a:rPr lang="ru" sz="2100">
                <a:solidFill>
                  <a:srgbClr val="E6955D"/>
                </a:solidFill>
                <a:latin typeface="Merriweather"/>
                <a:ea typeface="Merriweather"/>
                <a:cs typeface="Merriweather"/>
                <a:sym typeface="Merriweather"/>
              </a:rPr>
              <a:t> ilk şekli 1822’de </a:t>
            </a:r>
            <a:r>
              <a:rPr lang="ru" sz="2100">
                <a:solidFill>
                  <a:srgbClr val="E6955D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Christian Friedrich tarafından icat edildiğine </a:t>
            </a:r>
            <a:r>
              <a:rPr lang="ru" sz="2100" u="sng">
                <a:solidFill>
                  <a:srgbClr val="E6955D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inanılır</a:t>
            </a:r>
            <a:r>
              <a:rPr lang="ru" sz="2100">
                <a:solidFill>
                  <a:srgbClr val="E6955D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.</a:t>
            </a:r>
            <a:endParaRPr sz="2100">
              <a:solidFill>
                <a:srgbClr val="E6955D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E6955D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Fakat 1816’da akordiyona benzer enstrümanın Friedrich Lohner tarafından kullanıldığı tespit ediliyor</a:t>
            </a:r>
            <a:endParaRPr sz="2100">
              <a:solidFill>
                <a:srgbClr val="E6955D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6"/>
          <p:cNvGrpSpPr/>
          <p:nvPr/>
        </p:nvGrpSpPr>
        <p:grpSpPr>
          <a:xfrm>
            <a:off x="-121875" y="-1195574"/>
            <a:ext cx="9435150" cy="6518999"/>
            <a:chOff x="-121875" y="-1195574"/>
            <a:chExt cx="9435150" cy="6518999"/>
          </a:xfrm>
        </p:grpSpPr>
        <p:sp>
          <p:nvSpPr>
            <p:cNvPr id="110" name="Google Shape;110;p16"/>
            <p:cNvSpPr/>
            <p:nvPr/>
          </p:nvSpPr>
          <p:spPr>
            <a:xfrm rot="5400000">
              <a:off x="53575" y="-53700"/>
              <a:ext cx="1166700" cy="1274100"/>
            </a:xfrm>
            <a:prstGeom prst="rtTriangle">
              <a:avLst/>
            </a:prstGeom>
            <a:solidFill>
              <a:srgbClr val="E6955D"/>
            </a:solidFill>
            <a:ln cap="flat" cmpd="sng" w="9525">
              <a:solidFill>
                <a:srgbClr val="E695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 rot="-2700000">
              <a:off x="6659831" y="-918271"/>
              <a:ext cx="1347038" cy="1358494"/>
            </a:xfrm>
            <a:prstGeom prst="rtTriangle">
              <a:avLst/>
            </a:prstGeom>
            <a:solidFill>
              <a:srgbClr val="E6955D"/>
            </a:solidFill>
            <a:ln cap="flat" cmpd="sng" w="9525">
              <a:solidFill>
                <a:srgbClr val="E695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/>
            <p:nvPr/>
          </p:nvSpPr>
          <p:spPr>
            <a:xfrm rot="-5400000">
              <a:off x="7892125" y="3893525"/>
              <a:ext cx="1164600" cy="1339200"/>
            </a:xfrm>
            <a:prstGeom prst="rtTriangle">
              <a:avLst/>
            </a:prstGeom>
            <a:solidFill>
              <a:srgbClr val="E6955D"/>
            </a:solidFill>
            <a:ln cap="flat" cmpd="sng" w="9525">
              <a:solidFill>
                <a:srgbClr val="E695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3" name="Google Shape;113;p16"/>
            <p:cNvCxnSpPr/>
            <p:nvPr/>
          </p:nvCxnSpPr>
          <p:spPr>
            <a:xfrm>
              <a:off x="6619875" y="-59525"/>
              <a:ext cx="2693400" cy="23808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" name="Google Shape;114;p16"/>
            <p:cNvCxnSpPr/>
            <p:nvPr/>
          </p:nvCxnSpPr>
          <p:spPr>
            <a:xfrm flipH="1" rot="10800000">
              <a:off x="8074700" y="1220575"/>
              <a:ext cx="1091400" cy="9429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" name="Google Shape;115;p16"/>
            <p:cNvCxnSpPr/>
            <p:nvPr/>
          </p:nvCxnSpPr>
          <p:spPr>
            <a:xfrm>
              <a:off x="8078325" y="2161625"/>
              <a:ext cx="1174200" cy="10314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" name="Google Shape;116;p16"/>
            <p:cNvCxnSpPr/>
            <p:nvPr/>
          </p:nvCxnSpPr>
          <p:spPr>
            <a:xfrm flipH="1">
              <a:off x="4154950" y="4506525"/>
              <a:ext cx="957600" cy="8169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" name="Google Shape;117;p16"/>
            <p:cNvCxnSpPr/>
            <p:nvPr/>
          </p:nvCxnSpPr>
          <p:spPr>
            <a:xfrm>
              <a:off x="5111350" y="4509500"/>
              <a:ext cx="815700" cy="6915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8" name="Google Shape;118;p16"/>
            <p:cNvSpPr/>
            <p:nvPr/>
          </p:nvSpPr>
          <p:spPr>
            <a:xfrm>
              <a:off x="-117075" y="3893525"/>
              <a:ext cx="1164600" cy="1339200"/>
            </a:xfrm>
            <a:prstGeom prst="rtTriangle">
              <a:avLst/>
            </a:prstGeom>
            <a:solidFill>
              <a:srgbClr val="E6955D"/>
            </a:solidFill>
            <a:ln cap="flat" cmpd="sng" w="9525">
              <a:solidFill>
                <a:srgbClr val="E695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9" name="Google Shape;119;p16"/>
            <p:cNvCxnSpPr/>
            <p:nvPr/>
          </p:nvCxnSpPr>
          <p:spPr>
            <a:xfrm flipH="1" rot="10800000">
              <a:off x="-121875" y="3088925"/>
              <a:ext cx="804600" cy="8046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" name="Google Shape;120;p16"/>
            <p:cNvCxnSpPr/>
            <p:nvPr/>
          </p:nvCxnSpPr>
          <p:spPr>
            <a:xfrm rot="10800000">
              <a:off x="-95475" y="2301425"/>
              <a:ext cx="778200" cy="7782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1" name="Google Shape;121;p16"/>
          <p:cNvSpPr txBox="1"/>
          <p:nvPr/>
        </p:nvSpPr>
        <p:spPr>
          <a:xfrm>
            <a:off x="1214450" y="273850"/>
            <a:ext cx="3714900" cy="1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rgbClr val="E5813D"/>
                </a:solidFill>
                <a:latin typeface="Merriweather"/>
                <a:ea typeface="Merriweather"/>
                <a:cs typeface="Merriweather"/>
                <a:sym typeface="Merriweather"/>
              </a:rPr>
              <a:t>Akordiyonun sesi nedir?</a:t>
            </a:r>
            <a:endParaRPr sz="4000">
              <a:solidFill>
                <a:srgbClr val="E5813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22" name="Google Shape;122;p16" title="accordnc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0200" y="2738925"/>
            <a:ext cx="1098575" cy="101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1731000" y="2320600"/>
            <a:ext cx="6477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E6955D"/>
                </a:solidFill>
                <a:latin typeface="Merriweather"/>
                <a:ea typeface="Merriweather"/>
                <a:cs typeface="Merriweather"/>
                <a:sym typeface="Merriweather"/>
              </a:rPr>
              <a:t>Akordiyonun sesi örnek</a:t>
            </a:r>
            <a:endParaRPr sz="2100">
              <a:solidFill>
                <a:srgbClr val="E6955D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1258520" y="2629775"/>
            <a:ext cx="1752000" cy="844800"/>
          </a:xfrm>
          <a:custGeom>
            <a:rect b="b" l="l" r="r" t="t"/>
            <a:pathLst>
              <a:path extrusionOk="0" h="33792" w="70080">
                <a:moveTo>
                  <a:pt x="18010" y="0"/>
                </a:moveTo>
                <a:cubicBezTo>
                  <a:pt x="16380" y="487"/>
                  <a:pt x="11216" y="-148"/>
                  <a:pt x="8231" y="2921"/>
                </a:cubicBezTo>
                <a:cubicBezTo>
                  <a:pt x="5247" y="5990"/>
                  <a:pt x="-722" y="13335"/>
                  <a:pt x="103" y="18415"/>
                </a:cubicBezTo>
                <a:cubicBezTo>
                  <a:pt x="929" y="23495"/>
                  <a:pt x="1521" y="31602"/>
                  <a:pt x="13184" y="33401"/>
                </a:cubicBezTo>
                <a:cubicBezTo>
                  <a:pt x="24847" y="35200"/>
                  <a:pt x="60597" y="29909"/>
                  <a:pt x="70080" y="29210"/>
                </a:cubicBezTo>
              </a:path>
            </a:pathLst>
          </a:custGeom>
          <a:noFill/>
          <a:ln cap="flat" cmpd="sng" w="9525">
            <a:solidFill>
              <a:srgbClr val="E6955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25" name="Google Shape;125;p16"/>
          <p:cNvCxnSpPr/>
          <p:nvPr/>
        </p:nvCxnSpPr>
        <p:spPr>
          <a:xfrm flipH="1">
            <a:off x="2832625" y="3356850"/>
            <a:ext cx="177900" cy="155700"/>
          </a:xfrm>
          <a:prstGeom prst="straightConnector1">
            <a:avLst/>
          </a:prstGeom>
          <a:noFill/>
          <a:ln cap="flat" cmpd="sng" w="9525">
            <a:solidFill>
              <a:srgbClr val="E6955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6"/>
          <p:cNvCxnSpPr/>
          <p:nvPr/>
        </p:nvCxnSpPr>
        <p:spPr>
          <a:xfrm rot="10800000">
            <a:off x="2791475" y="3310950"/>
            <a:ext cx="212700" cy="45900"/>
          </a:xfrm>
          <a:prstGeom prst="straightConnector1">
            <a:avLst/>
          </a:prstGeom>
          <a:noFill/>
          <a:ln cap="flat" cmpd="sng" w="9525">
            <a:solidFill>
              <a:srgbClr val="E6955D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7"/>
          <p:cNvGrpSpPr/>
          <p:nvPr/>
        </p:nvGrpSpPr>
        <p:grpSpPr>
          <a:xfrm>
            <a:off x="-121875" y="-1195574"/>
            <a:ext cx="9435150" cy="6518999"/>
            <a:chOff x="-121875" y="-1195574"/>
            <a:chExt cx="9435150" cy="6518999"/>
          </a:xfrm>
        </p:grpSpPr>
        <p:sp>
          <p:nvSpPr>
            <p:cNvPr id="132" name="Google Shape;132;p17"/>
            <p:cNvSpPr/>
            <p:nvPr/>
          </p:nvSpPr>
          <p:spPr>
            <a:xfrm rot="5400000">
              <a:off x="53575" y="-53700"/>
              <a:ext cx="1166700" cy="12741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/>
            <p:nvPr/>
          </p:nvSpPr>
          <p:spPr>
            <a:xfrm rot="-2700000">
              <a:off x="6659831" y="-918271"/>
              <a:ext cx="1347038" cy="1358494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 rot="-5400000">
              <a:off x="7892125" y="3893525"/>
              <a:ext cx="1164600" cy="13392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5" name="Google Shape;135;p17"/>
            <p:cNvCxnSpPr/>
            <p:nvPr/>
          </p:nvCxnSpPr>
          <p:spPr>
            <a:xfrm>
              <a:off x="6619875" y="-59525"/>
              <a:ext cx="2693400" cy="23808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" name="Google Shape;136;p17"/>
            <p:cNvCxnSpPr/>
            <p:nvPr/>
          </p:nvCxnSpPr>
          <p:spPr>
            <a:xfrm flipH="1" rot="10800000">
              <a:off x="8074700" y="1220575"/>
              <a:ext cx="1091400" cy="9429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" name="Google Shape;137;p17"/>
            <p:cNvCxnSpPr/>
            <p:nvPr/>
          </p:nvCxnSpPr>
          <p:spPr>
            <a:xfrm>
              <a:off x="8078325" y="2161625"/>
              <a:ext cx="1174200" cy="10314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" name="Google Shape;138;p17"/>
            <p:cNvCxnSpPr/>
            <p:nvPr/>
          </p:nvCxnSpPr>
          <p:spPr>
            <a:xfrm flipH="1">
              <a:off x="4154950" y="4506525"/>
              <a:ext cx="957600" cy="8169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" name="Google Shape;139;p17"/>
            <p:cNvCxnSpPr/>
            <p:nvPr/>
          </p:nvCxnSpPr>
          <p:spPr>
            <a:xfrm>
              <a:off x="5111350" y="4509500"/>
              <a:ext cx="815700" cy="6915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0" name="Google Shape;140;p17"/>
            <p:cNvSpPr/>
            <p:nvPr/>
          </p:nvSpPr>
          <p:spPr>
            <a:xfrm>
              <a:off x="-117075" y="3893525"/>
              <a:ext cx="1164600" cy="13392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1" name="Google Shape;141;p17"/>
            <p:cNvCxnSpPr/>
            <p:nvPr/>
          </p:nvCxnSpPr>
          <p:spPr>
            <a:xfrm flipH="1" rot="10800000">
              <a:off x="-121875" y="3088925"/>
              <a:ext cx="804600" cy="8046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17"/>
            <p:cNvCxnSpPr/>
            <p:nvPr/>
          </p:nvCxnSpPr>
          <p:spPr>
            <a:xfrm rot="10800000">
              <a:off x="-95475" y="2301425"/>
              <a:ext cx="778200" cy="7782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3" name="Google Shape;143;p17"/>
          <p:cNvSpPr txBox="1"/>
          <p:nvPr/>
        </p:nvSpPr>
        <p:spPr>
          <a:xfrm>
            <a:off x="2032075" y="113425"/>
            <a:ext cx="4037100" cy="1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rgbClr val="E5813D"/>
                </a:solidFill>
                <a:latin typeface="Merriweather"/>
                <a:ea typeface="Merriweather"/>
                <a:cs typeface="Merriweather"/>
                <a:sym typeface="Merriweather"/>
              </a:rPr>
              <a:t>Akordiyonun türleri nelerdir?</a:t>
            </a:r>
            <a:endParaRPr sz="4000">
              <a:solidFill>
                <a:srgbClr val="E5813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1357200" y="2156100"/>
            <a:ext cx="6477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E6955D"/>
                </a:solidFill>
                <a:latin typeface="Merriweather"/>
                <a:ea typeface="Merriweather"/>
                <a:cs typeface="Merriweather"/>
                <a:sym typeface="Merriweather"/>
              </a:rPr>
              <a:t>Akordiyonun bazı türlerini sonraki slaytlarda</a:t>
            </a:r>
            <a:endParaRPr sz="2100">
              <a:solidFill>
                <a:srgbClr val="E6955D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E6955D"/>
                </a:solidFill>
                <a:latin typeface="Merriweather"/>
                <a:ea typeface="Merriweather"/>
                <a:cs typeface="Merriweather"/>
                <a:sym typeface="Merriweather"/>
              </a:rPr>
              <a:t>gösterdim.</a:t>
            </a:r>
            <a:endParaRPr sz="2100">
              <a:solidFill>
                <a:srgbClr val="E6955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title="hohneracc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6604" y="1503925"/>
            <a:ext cx="4791300" cy="3193500"/>
          </a:xfrm>
          <a:prstGeom prst="snip2DiagRect">
            <a:avLst>
              <a:gd fmla="val 24870" name="adj1"/>
              <a:gd fmla="val 18218" name="adj2"/>
            </a:avLst>
          </a:prstGeom>
          <a:noFill/>
          <a:ln>
            <a:noFill/>
          </a:ln>
        </p:spPr>
      </p:pic>
      <p:grpSp>
        <p:nvGrpSpPr>
          <p:cNvPr id="150" name="Google Shape;150;p18"/>
          <p:cNvGrpSpPr/>
          <p:nvPr/>
        </p:nvGrpSpPr>
        <p:grpSpPr>
          <a:xfrm>
            <a:off x="-121875" y="-1195574"/>
            <a:ext cx="9435150" cy="6518999"/>
            <a:chOff x="-121875" y="-1195574"/>
            <a:chExt cx="9435150" cy="6518999"/>
          </a:xfrm>
        </p:grpSpPr>
        <p:sp>
          <p:nvSpPr>
            <p:cNvPr id="151" name="Google Shape;151;p18"/>
            <p:cNvSpPr/>
            <p:nvPr/>
          </p:nvSpPr>
          <p:spPr>
            <a:xfrm rot="5400000">
              <a:off x="53575" y="-53700"/>
              <a:ext cx="1166700" cy="12741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8"/>
            <p:cNvSpPr/>
            <p:nvPr/>
          </p:nvSpPr>
          <p:spPr>
            <a:xfrm rot="-2700000">
              <a:off x="6659831" y="-918271"/>
              <a:ext cx="1347038" cy="1358494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8"/>
            <p:cNvSpPr/>
            <p:nvPr/>
          </p:nvSpPr>
          <p:spPr>
            <a:xfrm rot="-5400000">
              <a:off x="7892125" y="3893525"/>
              <a:ext cx="1164600" cy="13392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4" name="Google Shape;154;p18"/>
            <p:cNvCxnSpPr/>
            <p:nvPr/>
          </p:nvCxnSpPr>
          <p:spPr>
            <a:xfrm>
              <a:off x="6619875" y="-59525"/>
              <a:ext cx="2693400" cy="23808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18"/>
            <p:cNvCxnSpPr/>
            <p:nvPr/>
          </p:nvCxnSpPr>
          <p:spPr>
            <a:xfrm flipH="1" rot="10800000">
              <a:off x="8074700" y="1220575"/>
              <a:ext cx="1091400" cy="9429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18"/>
            <p:cNvCxnSpPr/>
            <p:nvPr/>
          </p:nvCxnSpPr>
          <p:spPr>
            <a:xfrm>
              <a:off x="8078325" y="2161625"/>
              <a:ext cx="1174200" cy="10314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" name="Google Shape;157;p18"/>
            <p:cNvCxnSpPr/>
            <p:nvPr/>
          </p:nvCxnSpPr>
          <p:spPr>
            <a:xfrm flipH="1">
              <a:off x="4154950" y="4506525"/>
              <a:ext cx="957600" cy="8169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" name="Google Shape;158;p18"/>
            <p:cNvCxnSpPr/>
            <p:nvPr/>
          </p:nvCxnSpPr>
          <p:spPr>
            <a:xfrm>
              <a:off x="5111350" y="4509500"/>
              <a:ext cx="815700" cy="6915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9" name="Google Shape;159;p18"/>
            <p:cNvSpPr/>
            <p:nvPr/>
          </p:nvSpPr>
          <p:spPr>
            <a:xfrm>
              <a:off x="-117075" y="3893525"/>
              <a:ext cx="1164600" cy="13392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0" name="Google Shape;160;p18"/>
            <p:cNvCxnSpPr/>
            <p:nvPr/>
          </p:nvCxnSpPr>
          <p:spPr>
            <a:xfrm flipH="1" rot="10800000">
              <a:off x="-121875" y="3088925"/>
              <a:ext cx="804600" cy="8046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" name="Google Shape;161;p18"/>
            <p:cNvCxnSpPr/>
            <p:nvPr/>
          </p:nvCxnSpPr>
          <p:spPr>
            <a:xfrm rot="10800000">
              <a:off x="-95475" y="2301425"/>
              <a:ext cx="778200" cy="7782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2" name="Google Shape;162;p18"/>
          <p:cNvSpPr txBox="1"/>
          <p:nvPr/>
        </p:nvSpPr>
        <p:spPr>
          <a:xfrm>
            <a:off x="1564100" y="93375"/>
            <a:ext cx="5364000" cy="11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>
                <a:solidFill>
                  <a:srgbClr val="E5813D"/>
                </a:solidFill>
                <a:latin typeface="Merriweather"/>
                <a:ea typeface="Merriweather"/>
                <a:cs typeface="Merriweather"/>
                <a:sym typeface="Merriweather"/>
              </a:rPr>
              <a:t>Bas sistemli akordiyon (marka Hohner Stradella)</a:t>
            </a:r>
            <a:endParaRPr sz="3200">
              <a:solidFill>
                <a:srgbClr val="E5813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title="accrn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576" y="1819700"/>
            <a:ext cx="4559875" cy="29791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p19"/>
          <p:cNvGrpSpPr/>
          <p:nvPr/>
        </p:nvGrpSpPr>
        <p:grpSpPr>
          <a:xfrm>
            <a:off x="-121875" y="-1195574"/>
            <a:ext cx="9435150" cy="6518999"/>
            <a:chOff x="-121875" y="-1195574"/>
            <a:chExt cx="9435150" cy="6518999"/>
          </a:xfrm>
        </p:grpSpPr>
        <p:sp>
          <p:nvSpPr>
            <p:cNvPr id="169" name="Google Shape;169;p19"/>
            <p:cNvSpPr/>
            <p:nvPr/>
          </p:nvSpPr>
          <p:spPr>
            <a:xfrm rot="5400000">
              <a:off x="53575" y="-53700"/>
              <a:ext cx="1166700" cy="12741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9"/>
            <p:cNvSpPr/>
            <p:nvPr/>
          </p:nvSpPr>
          <p:spPr>
            <a:xfrm rot="-2700000">
              <a:off x="6659831" y="-918271"/>
              <a:ext cx="1347038" cy="1358494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9"/>
            <p:cNvSpPr/>
            <p:nvPr/>
          </p:nvSpPr>
          <p:spPr>
            <a:xfrm rot="-5400000">
              <a:off x="7892125" y="3893525"/>
              <a:ext cx="1164600" cy="13392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2" name="Google Shape;172;p19"/>
            <p:cNvCxnSpPr/>
            <p:nvPr/>
          </p:nvCxnSpPr>
          <p:spPr>
            <a:xfrm>
              <a:off x="6619875" y="-59525"/>
              <a:ext cx="2693400" cy="23808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19"/>
            <p:cNvCxnSpPr/>
            <p:nvPr/>
          </p:nvCxnSpPr>
          <p:spPr>
            <a:xfrm flipH="1" rot="10800000">
              <a:off x="8074700" y="1220575"/>
              <a:ext cx="1091400" cy="9429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" name="Google Shape;174;p19"/>
            <p:cNvCxnSpPr/>
            <p:nvPr/>
          </p:nvCxnSpPr>
          <p:spPr>
            <a:xfrm>
              <a:off x="8078325" y="2161625"/>
              <a:ext cx="1174200" cy="10314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19"/>
            <p:cNvCxnSpPr/>
            <p:nvPr/>
          </p:nvCxnSpPr>
          <p:spPr>
            <a:xfrm flipH="1">
              <a:off x="4154950" y="4506525"/>
              <a:ext cx="957600" cy="8169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" name="Google Shape;176;p19"/>
            <p:cNvCxnSpPr/>
            <p:nvPr/>
          </p:nvCxnSpPr>
          <p:spPr>
            <a:xfrm>
              <a:off x="5111350" y="4509500"/>
              <a:ext cx="815700" cy="6915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7" name="Google Shape;177;p19"/>
            <p:cNvSpPr/>
            <p:nvPr/>
          </p:nvSpPr>
          <p:spPr>
            <a:xfrm>
              <a:off x="-117075" y="3893525"/>
              <a:ext cx="1164600" cy="13392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8" name="Google Shape;178;p19"/>
            <p:cNvCxnSpPr/>
            <p:nvPr/>
          </p:nvCxnSpPr>
          <p:spPr>
            <a:xfrm flipH="1" rot="10800000">
              <a:off x="-121875" y="3088925"/>
              <a:ext cx="804600" cy="8046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" name="Google Shape;179;p19"/>
            <p:cNvCxnSpPr/>
            <p:nvPr/>
          </p:nvCxnSpPr>
          <p:spPr>
            <a:xfrm rot="10800000">
              <a:off x="-95475" y="2301425"/>
              <a:ext cx="778200" cy="7782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0" name="Google Shape;180;p19"/>
          <p:cNvSpPr txBox="1"/>
          <p:nvPr/>
        </p:nvSpPr>
        <p:spPr>
          <a:xfrm>
            <a:off x="1313450" y="263825"/>
            <a:ext cx="5364000" cy="11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>
                <a:solidFill>
                  <a:srgbClr val="E5813D"/>
                </a:solidFill>
                <a:latin typeface="Merriweather"/>
                <a:ea typeface="Merriweather"/>
                <a:cs typeface="Merriweather"/>
                <a:sym typeface="Merriweather"/>
              </a:rPr>
              <a:t>Elektronik piyanolu akordiyon (marka Roland)</a:t>
            </a:r>
            <a:endParaRPr sz="3200">
              <a:solidFill>
                <a:srgbClr val="E5813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0" title="jupite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8012" y="1483875"/>
            <a:ext cx="4694474" cy="33081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20"/>
          <p:cNvGrpSpPr/>
          <p:nvPr/>
        </p:nvGrpSpPr>
        <p:grpSpPr>
          <a:xfrm>
            <a:off x="-121875" y="-1195574"/>
            <a:ext cx="9435150" cy="6518999"/>
            <a:chOff x="-121875" y="-1195574"/>
            <a:chExt cx="9435150" cy="6518999"/>
          </a:xfrm>
        </p:grpSpPr>
        <p:sp>
          <p:nvSpPr>
            <p:cNvPr id="187" name="Google Shape;187;p20"/>
            <p:cNvSpPr/>
            <p:nvPr/>
          </p:nvSpPr>
          <p:spPr>
            <a:xfrm rot="5400000">
              <a:off x="53575" y="-53700"/>
              <a:ext cx="1166700" cy="12741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0"/>
            <p:cNvSpPr/>
            <p:nvPr/>
          </p:nvSpPr>
          <p:spPr>
            <a:xfrm rot="-2700000">
              <a:off x="6659831" y="-918271"/>
              <a:ext cx="1347038" cy="1358494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0"/>
            <p:cNvSpPr/>
            <p:nvPr/>
          </p:nvSpPr>
          <p:spPr>
            <a:xfrm rot="-5400000">
              <a:off x="7892125" y="3893525"/>
              <a:ext cx="1164600" cy="13392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0" name="Google Shape;190;p20"/>
            <p:cNvCxnSpPr/>
            <p:nvPr/>
          </p:nvCxnSpPr>
          <p:spPr>
            <a:xfrm>
              <a:off x="6619875" y="-59525"/>
              <a:ext cx="2693400" cy="23808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20"/>
            <p:cNvCxnSpPr/>
            <p:nvPr/>
          </p:nvCxnSpPr>
          <p:spPr>
            <a:xfrm flipH="1" rot="10800000">
              <a:off x="8074700" y="1220575"/>
              <a:ext cx="1091400" cy="9429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20"/>
            <p:cNvCxnSpPr/>
            <p:nvPr/>
          </p:nvCxnSpPr>
          <p:spPr>
            <a:xfrm>
              <a:off x="8078325" y="2161625"/>
              <a:ext cx="1174200" cy="10314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20"/>
            <p:cNvCxnSpPr/>
            <p:nvPr/>
          </p:nvCxnSpPr>
          <p:spPr>
            <a:xfrm flipH="1">
              <a:off x="4154950" y="4506525"/>
              <a:ext cx="957600" cy="8169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20"/>
            <p:cNvCxnSpPr/>
            <p:nvPr/>
          </p:nvCxnSpPr>
          <p:spPr>
            <a:xfrm>
              <a:off x="5111350" y="4509500"/>
              <a:ext cx="815700" cy="6915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5" name="Google Shape;195;p20"/>
            <p:cNvSpPr/>
            <p:nvPr/>
          </p:nvSpPr>
          <p:spPr>
            <a:xfrm>
              <a:off x="-117075" y="3893525"/>
              <a:ext cx="1164600" cy="13392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6" name="Google Shape;196;p20"/>
            <p:cNvCxnSpPr/>
            <p:nvPr/>
          </p:nvCxnSpPr>
          <p:spPr>
            <a:xfrm flipH="1" rot="10800000">
              <a:off x="-121875" y="3088925"/>
              <a:ext cx="804600" cy="8046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20"/>
            <p:cNvCxnSpPr/>
            <p:nvPr/>
          </p:nvCxnSpPr>
          <p:spPr>
            <a:xfrm rot="10800000">
              <a:off x="-95475" y="2301425"/>
              <a:ext cx="778200" cy="7782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8" name="Google Shape;198;p20"/>
          <p:cNvSpPr txBox="1"/>
          <p:nvPr/>
        </p:nvSpPr>
        <p:spPr>
          <a:xfrm>
            <a:off x="1313450" y="103400"/>
            <a:ext cx="5364000" cy="11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>
                <a:solidFill>
                  <a:srgbClr val="E5813D"/>
                </a:solidFill>
                <a:latin typeface="Merriweather"/>
                <a:ea typeface="Merriweather"/>
                <a:cs typeface="Merriweather"/>
                <a:sym typeface="Merriweather"/>
              </a:rPr>
              <a:t>Düğmeli (bayan ya da rus) akordiyon (marka Jupiter)</a:t>
            </a:r>
            <a:endParaRPr sz="3200">
              <a:solidFill>
                <a:srgbClr val="E5813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1" title="melodika.png"/>
          <p:cNvPicPr preferRelativeResize="0"/>
          <p:nvPr/>
        </p:nvPicPr>
        <p:blipFill rotWithShape="1">
          <a:blip r:embed="rId3">
            <a:alphaModFix/>
          </a:blip>
          <a:srcRect b="27010" l="0" r="0" t="27850"/>
          <a:stretch/>
        </p:blipFill>
        <p:spPr>
          <a:xfrm>
            <a:off x="2052925" y="2396275"/>
            <a:ext cx="4176000" cy="1884900"/>
          </a:xfrm>
          <a:prstGeom prst="snip2DiagRect">
            <a:avLst>
              <a:gd fmla="val 50000" name="adj1"/>
              <a:gd fmla="val 43307" name="adj2"/>
            </a:avLst>
          </a:prstGeom>
          <a:noFill/>
          <a:ln>
            <a:noFill/>
          </a:ln>
        </p:spPr>
      </p:pic>
      <p:grpSp>
        <p:nvGrpSpPr>
          <p:cNvPr id="204" name="Google Shape;204;p21"/>
          <p:cNvGrpSpPr/>
          <p:nvPr/>
        </p:nvGrpSpPr>
        <p:grpSpPr>
          <a:xfrm>
            <a:off x="-121875" y="-1195574"/>
            <a:ext cx="9435150" cy="6518999"/>
            <a:chOff x="-121875" y="-1195574"/>
            <a:chExt cx="9435150" cy="6518999"/>
          </a:xfrm>
        </p:grpSpPr>
        <p:sp>
          <p:nvSpPr>
            <p:cNvPr id="205" name="Google Shape;205;p21"/>
            <p:cNvSpPr/>
            <p:nvPr/>
          </p:nvSpPr>
          <p:spPr>
            <a:xfrm rot="5400000">
              <a:off x="53575" y="-53700"/>
              <a:ext cx="1166700" cy="12741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1"/>
            <p:cNvSpPr/>
            <p:nvPr/>
          </p:nvSpPr>
          <p:spPr>
            <a:xfrm rot="-2700000">
              <a:off x="6659831" y="-918271"/>
              <a:ext cx="1347038" cy="1358494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1"/>
            <p:cNvSpPr/>
            <p:nvPr/>
          </p:nvSpPr>
          <p:spPr>
            <a:xfrm rot="-5400000">
              <a:off x="7892125" y="3893525"/>
              <a:ext cx="1164600" cy="13392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8" name="Google Shape;208;p21"/>
            <p:cNvCxnSpPr/>
            <p:nvPr/>
          </p:nvCxnSpPr>
          <p:spPr>
            <a:xfrm>
              <a:off x="6619875" y="-59525"/>
              <a:ext cx="2693400" cy="23808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" name="Google Shape;209;p21"/>
            <p:cNvCxnSpPr/>
            <p:nvPr/>
          </p:nvCxnSpPr>
          <p:spPr>
            <a:xfrm flipH="1" rot="10800000">
              <a:off x="8074700" y="1220575"/>
              <a:ext cx="1091400" cy="9429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" name="Google Shape;210;p21"/>
            <p:cNvCxnSpPr/>
            <p:nvPr/>
          </p:nvCxnSpPr>
          <p:spPr>
            <a:xfrm>
              <a:off x="8078325" y="2161625"/>
              <a:ext cx="1174200" cy="10314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" name="Google Shape;211;p21"/>
            <p:cNvCxnSpPr/>
            <p:nvPr/>
          </p:nvCxnSpPr>
          <p:spPr>
            <a:xfrm flipH="1">
              <a:off x="4154950" y="4506525"/>
              <a:ext cx="957600" cy="8169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" name="Google Shape;212;p21"/>
            <p:cNvCxnSpPr/>
            <p:nvPr/>
          </p:nvCxnSpPr>
          <p:spPr>
            <a:xfrm>
              <a:off x="5111350" y="4509500"/>
              <a:ext cx="815700" cy="6915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3" name="Google Shape;213;p21"/>
            <p:cNvSpPr/>
            <p:nvPr/>
          </p:nvSpPr>
          <p:spPr>
            <a:xfrm>
              <a:off x="-117075" y="3893525"/>
              <a:ext cx="1164600" cy="13392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4" name="Google Shape;214;p21"/>
            <p:cNvCxnSpPr/>
            <p:nvPr/>
          </p:nvCxnSpPr>
          <p:spPr>
            <a:xfrm flipH="1" rot="10800000">
              <a:off x="-121875" y="3088925"/>
              <a:ext cx="804600" cy="8046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" name="Google Shape;215;p21"/>
            <p:cNvCxnSpPr/>
            <p:nvPr/>
          </p:nvCxnSpPr>
          <p:spPr>
            <a:xfrm rot="10800000">
              <a:off x="-95475" y="2301425"/>
              <a:ext cx="778200" cy="7782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6" name="Google Shape;216;p21"/>
          <p:cNvSpPr txBox="1"/>
          <p:nvPr/>
        </p:nvSpPr>
        <p:spPr>
          <a:xfrm>
            <a:off x="1333500" y="263825"/>
            <a:ext cx="5614800" cy="17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>
                <a:solidFill>
                  <a:srgbClr val="E5813D"/>
                </a:solidFill>
                <a:latin typeface="Merriweather"/>
                <a:ea typeface="Merriweather"/>
                <a:cs typeface="Merriweather"/>
                <a:sym typeface="Merriweather"/>
              </a:rPr>
              <a:t>Melodika da aslında bir akordiyon sayılabilir. Körüğü yerine hava üflenir.</a:t>
            </a:r>
            <a:endParaRPr sz="3200">
              <a:solidFill>
                <a:srgbClr val="E5813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22"/>
          <p:cNvGrpSpPr/>
          <p:nvPr/>
        </p:nvGrpSpPr>
        <p:grpSpPr>
          <a:xfrm>
            <a:off x="-121875" y="-1195574"/>
            <a:ext cx="9435150" cy="6518999"/>
            <a:chOff x="-121875" y="-1195574"/>
            <a:chExt cx="9435150" cy="6518999"/>
          </a:xfrm>
        </p:grpSpPr>
        <p:sp>
          <p:nvSpPr>
            <p:cNvPr id="222" name="Google Shape;222;p22"/>
            <p:cNvSpPr/>
            <p:nvPr/>
          </p:nvSpPr>
          <p:spPr>
            <a:xfrm rot="5400000">
              <a:off x="53575" y="-53700"/>
              <a:ext cx="1166700" cy="12741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2"/>
            <p:cNvSpPr/>
            <p:nvPr/>
          </p:nvSpPr>
          <p:spPr>
            <a:xfrm rot="-2700000">
              <a:off x="6659831" y="-918271"/>
              <a:ext cx="1347038" cy="1358494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2"/>
            <p:cNvSpPr/>
            <p:nvPr/>
          </p:nvSpPr>
          <p:spPr>
            <a:xfrm rot="-5400000">
              <a:off x="7892125" y="3893525"/>
              <a:ext cx="1164600" cy="13392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5" name="Google Shape;225;p22"/>
            <p:cNvCxnSpPr/>
            <p:nvPr/>
          </p:nvCxnSpPr>
          <p:spPr>
            <a:xfrm>
              <a:off x="6619875" y="-59525"/>
              <a:ext cx="2693400" cy="23808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" name="Google Shape;226;p22"/>
            <p:cNvCxnSpPr/>
            <p:nvPr/>
          </p:nvCxnSpPr>
          <p:spPr>
            <a:xfrm flipH="1" rot="10800000">
              <a:off x="8074700" y="1220575"/>
              <a:ext cx="1091400" cy="9429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" name="Google Shape;227;p22"/>
            <p:cNvCxnSpPr/>
            <p:nvPr/>
          </p:nvCxnSpPr>
          <p:spPr>
            <a:xfrm>
              <a:off x="8078325" y="2161625"/>
              <a:ext cx="1174200" cy="10314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8" name="Google Shape;228;p22"/>
            <p:cNvCxnSpPr/>
            <p:nvPr/>
          </p:nvCxnSpPr>
          <p:spPr>
            <a:xfrm flipH="1">
              <a:off x="4154950" y="4506525"/>
              <a:ext cx="957600" cy="8169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" name="Google Shape;229;p22"/>
            <p:cNvCxnSpPr/>
            <p:nvPr/>
          </p:nvCxnSpPr>
          <p:spPr>
            <a:xfrm>
              <a:off x="5111350" y="4509500"/>
              <a:ext cx="815700" cy="6915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0" name="Google Shape;230;p22"/>
            <p:cNvSpPr/>
            <p:nvPr/>
          </p:nvSpPr>
          <p:spPr>
            <a:xfrm>
              <a:off x="-117075" y="3893525"/>
              <a:ext cx="1164600" cy="1339200"/>
            </a:xfrm>
            <a:prstGeom prst="rtTriangle">
              <a:avLst/>
            </a:prstGeom>
            <a:solidFill>
              <a:srgbClr val="E69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1" name="Google Shape;231;p22"/>
            <p:cNvCxnSpPr/>
            <p:nvPr/>
          </p:nvCxnSpPr>
          <p:spPr>
            <a:xfrm flipH="1" rot="10800000">
              <a:off x="-121875" y="3088925"/>
              <a:ext cx="804600" cy="8046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2" name="Google Shape;232;p22"/>
            <p:cNvCxnSpPr/>
            <p:nvPr/>
          </p:nvCxnSpPr>
          <p:spPr>
            <a:xfrm rot="10800000">
              <a:off x="-95475" y="2301425"/>
              <a:ext cx="778200" cy="778200"/>
            </a:xfrm>
            <a:prstGeom prst="straightConnector1">
              <a:avLst/>
            </a:prstGeom>
            <a:noFill/>
            <a:ln cap="flat" cmpd="sng" w="28575">
              <a:solidFill>
                <a:srgbClr val="E6955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3" name="Google Shape;233;p22"/>
          <p:cNvSpPr txBox="1"/>
          <p:nvPr/>
        </p:nvSpPr>
        <p:spPr>
          <a:xfrm>
            <a:off x="3816000" y="1371950"/>
            <a:ext cx="1512000" cy="9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>
                <a:solidFill>
                  <a:srgbClr val="E5813D"/>
                </a:solidFill>
                <a:latin typeface="Merriweather"/>
                <a:ea typeface="Merriweather"/>
                <a:cs typeface="Merriweather"/>
                <a:sym typeface="Merriweather"/>
              </a:rPr>
              <a:t>SON</a:t>
            </a:r>
            <a:endParaRPr sz="5500">
              <a:solidFill>
                <a:srgbClr val="E5813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2063700" y="3638925"/>
            <a:ext cx="501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E6955D"/>
                </a:solidFill>
                <a:latin typeface="Merriweather"/>
                <a:ea typeface="Merriweather"/>
                <a:cs typeface="Merriweather"/>
                <a:sym typeface="Merriweather"/>
              </a:rPr>
              <a:t>Sunumu Hazırlayan Teoman Ertürk</a:t>
            </a:r>
            <a:endParaRPr sz="2200">
              <a:solidFill>
                <a:srgbClr val="E6955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35" name="Google Shape;235;p22" title="lik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225" y="881150"/>
            <a:ext cx="1897200" cy="1950000"/>
          </a:xfrm>
          <a:prstGeom prst="snip2DiagRect">
            <a:avLst>
              <a:gd fmla="val 0" name="adj1"/>
              <a:gd fmla="val 34308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